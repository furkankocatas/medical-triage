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7315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0"/>
            <a:ext cx="228600" cy="6858000"/>
          </a:xfrm>
          <a:prstGeom prst="rect">
            <a:avLst/>
          </a:prstGeom>
          <a:solidFill>
            <a:srgbClr val="F9A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0"/>
            <a:ext cx="228600" cy="685800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554480"/>
            <a:ext cx="10180015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 i="0">
                <a:solidFill>
                  <a:srgbClr val="FFFFFF"/>
                </a:solidFill>
                <a:latin typeface="Calibri"/>
              </a:rPr>
              <a:t>Türkçe Tıbbi Triaj ve Bölüm Yönlendirme için
Küçük Dil Modellerinin İnce Ayarı</a:t>
            </a:r>
          </a:p>
          <a:p>
            <a:pPr>
              <a:spcBef>
                <a:spcPts val="1400"/>
              </a:spcBef>
            </a:pPr>
            <a:r>
              <a:rPr sz="1800" b="0" i="0">
                <a:solidFill>
                  <a:srgbClr val="9FB3C8"/>
                </a:solidFill>
                <a:latin typeface="Calibri"/>
              </a:rPr>
              <a:t>SmolLM2-360M · Qwen2.5-1.5B · Gemma-4-E2B — Karşılaştırmalı Benchmark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480560"/>
            <a:ext cx="10180015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r>
              <a:rPr sz="1600" b="0" i="0">
                <a:solidFill>
                  <a:srgbClr val="FFFFFF"/>
                </a:solidFill>
                <a:latin typeface="Calibri"/>
              </a:rPr>
              <a:t>Ebubekir Bayar (258273002001)  ·  Furkan Kocataş (258273002008)</a:t>
            </a:r>
          </a:p>
          <a:p>
            <a:r>
              <a:rPr sz="1300" b="0" i="0">
                <a:solidFill>
                  <a:srgbClr val="C8D2DC"/>
                </a:solidFill>
                <a:latin typeface="Calibri"/>
              </a:rPr>
              <a:t>Selçuk Üniversitesi — Fen Bilimleri Enstitüsü, Bilgisayar Mühendisliği (Y.L.)</a:t>
            </a:r>
          </a:p>
          <a:p>
            <a:r>
              <a:rPr sz="1300" b="0" i="0">
                <a:solidFill>
                  <a:srgbClr val="C8D2DC"/>
                </a:solidFill>
                <a:latin typeface="Calibri"/>
              </a:rPr>
              <a:t>Büyük Dil Modelleri Dersi — Final Projesi · Konya,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127729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1" i="0">
                <a:solidFill>
                  <a:srgbClr val="9FB3C8"/>
                </a:solidFill>
                <a:latin typeface="Calibri"/>
              </a:rPr>
              <a:t>1 / Giriş
</a:t>
            </a:r>
            <a:r>
              <a:rPr sz="2600" b="1" i="0">
                <a:solidFill>
                  <a:srgbClr val="FFFFFF"/>
                </a:solidFill>
                <a:latin typeface="Calibri"/>
              </a:rPr>
              <a:t>Problem Tanımı ve Motivasyon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700" b="1" i="0">
                <a:solidFill>
                  <a:srgbClr val="222A33"/>
                </a:solidFill>
                <a:latin typeface="Calibri"/>
              </a:rPr>
              <a:t>•  Türkiye'de 2023'te acil servise yıllık 130M+ başvuru — nüfusun ~1,5 katı, OECD ortalamasının çok üzerinde.</a:t>
            </a:r>
          </a:p>
          <a:p>
            <a:pPr>
              <a:spcAft>
                <a:spcPts val="800"/>
              </a:spcAft>
            </a:pPr>
            <a:r>
              <a:rPr sz="1700" b="1" i="0">
                <a:solidFill>
                  <a:srgbClr val="222A33"/>
                </a:solidFill>
                <a:latin typeface="Calibri"/>
              </a:rPr>
              <a:t>•  Yoğunluk → triaj hemşiresi başına vaka artışı, karar süresinde sıkışma; hatalı bölüm yönlendirmesi gereksiz konsültasyon/tetkik.</a:t>
            </a:r>
          </a:p>
          <a:p>
            <a:pPr>
              <a:spcAft>
                <a:spcPts val="800"/>
              </a:spcAft>
            </a:pPr>
            <a:r>
              <a:rPr sz="1700" b="1" i="0">
                <a:solidFill>
                  <a:srgbClr val="222A33"/>
                </a:solidFill>
                <a:latin typeface="Calibri"/>
              </a:rPr>
              <a:t>•  Hedef: Türkçe serbest semptom metninden eş-zamanlı iki çıktı.</a:t>
            </a:r>
          </a:p>
          <a:p>
            <a:pPr lvl="1">
              <a:spcAft>
                <a:spcPts val="800"/>
              </a:spcAft>
            </a:pPr>
            <a:r>
              <a:rPr sz="1500" b="0" i="0">
                <a:solidFill>
                  <a:srgbClr val="555F6B"/>
                </a:solidFill>
                <a:latin typeface="Calibri"/>
              </a:rPr>
              <a:t>–  Triaj aciliyet: Yeşil / Sarı / Kırmızı</a:t>
            </a:r>
          </a:p>
          <a:p>
            <a:pPr lvl="1">
              <a:spcAft>
                <a:spcPts val="800"/>
              </a:spcAft>
            </a:pPr>
            <a:r>
              <a:rPr sz="1500" b="0" i="0">
                <a:solidFill>
                  <a:srgbClr val="555F6B"/>
                </a:solidFill>
                <a:latin typeface="Calibri"/>
              </a:rPr>
              <a:t>–  Bölüm yönlendirme: Kardiyoloji, Nöroloji, Dahiliye, …</a:t>
            </a:r>
          </a:p>
          <a:p>
            <a:pPr>
              <a:spcAft>
                <a:spcPts val="800"/>
              </a:spcAft>
            </a:pPr>
            <a:r>
              <a:rPr sz="1700" b="1" i="0">
                <a:solidFill>
                  <a:srgbClr val="222A33"/>
                </a:solidFill>
                <a:latin typeface="Calibri"/>
              </a:rPr>
              <a:t>•  Neden Küçük Dil Modeli (SLM)? GPT-4/Med-PaLM gibi kapalı modeller 3 engelle karşılaşır:</a:t>
            </a:r>
          </a:p>
          <a:p>
            <a:pPr lvl="1">
              <a:spcAft>
                <a:spcPts val="800"/>
              </a:spcAft>
            </a:pPr>
            <a:r>
              <a:rPr sz="1500" b="0" i="0">
                <a:solidFill>
                  <a:srgbClr val="555F6B"/>
                </a:solidFill>
                <a:latin typeface="Calibri"/>
              </a:rPr>
              <a:t>–  KVKK / veri yerelliği (veri yurt dışına çıkamaz)</a:t>
            </a:r>
          </a:p>
          <a:p>
            <a:pPr lvl="1">
              <a:spcAft>
                <a:spcPts val="800"/>
              </a:spcAft>
            </a:pPr>
            <a:r>
              <a:rPr sz="1500" b="0" i="0">
                <a:solidFill>
                  <a:srgbClr val="555F6B"/>
                </a:solidFill>
                <a:latin typeface="Calibri"/>
              </a:rPr>
              <a:t>–  Çağrı başına API maliyeti — ölçekte bütçe baskısı</a:t>
            </a:r>
          </a:p>
          <a:p>
            <a:pPr lvl="1">
              <a:spcAft>
                <a:spcPts val="800"/>
              </a:spcAft>
            </a:pPr>
            <a:r>
              <a:rPr sz="1500" b="0" i="0">
                <a:solidFill>
                  <a:srgbClr val="555F6B"/>
                </a:solidFill>
                <a:latin typeface="Calibri"/>
              </a:rPr>
              <a:t>–  Çevrimdışı / gerçek zamanlı çalışma ihtiyacı</a:t>
            </a:r>
          </a:p>
          <a:p>
            <a:pPr>
              <a:spcAft>
                <a:spcPts val="800"/>
              </a:spcAft>
            </a:pPr>
            <a:r>
              <a:rPr sz="1700" b="1" i="0">
                <a:solidFill>
                  <a:srgbClr val="C0392B"/>
                </a:solidFill>
                <a:latin typeface="Calibri"/>
              </a:rPr>
              <a:t>•  Klinik güvenlik metrikleri ön planda: False Green Rate (FGR), Kırmızı için FNR-Red.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 i="0">
                <a:solidFill>
                  <a:srgbClr val="555F6B"/>
                </a:solidFill>
                <a:latin typeface="Calibri"/>
              </a:rPr>
              <a:t>Türkçe Tıbbi Triaj • SLM Benchmark • Selçuk Ü.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 i="0">
                <a:solidFill>
                  <a:srgbClr val="1F3A5F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127729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1" i="0">
                <a:solidFill>
                  <a:srgbClr val="9FB3C8"/>
                </a:solidFill>
                <a:latin typeface="Calibri"/>
              </a:rPr>
              <a:t>2 / Literatür
</a:t>
            </a:r>
            <a:r>
              <a:rPr sz="2600" b="1" i="0">
                <a:solidFill>
                  <a:srgbClr val="FFFFFF"/>
                </a:solidFill>
                <a:latin typeface="Calibri"/>
              </a:rPr>
              <a:t>İlgili Çalışmalar (Literatür Özeti)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700" b="1" i="0">
                <a:solidFill>
                  <a:srgbClr val="222A33"/>
                </a:solidFill>
                <a:latin typeface="Calibri"/>
              </a:rPr>
              <a:t>•  Klasik triaj sistemleri: Manchester Triage System (MTS), Emergency Severity Index (ESI).</a:t>
            </a:r>
          </a:p>
          <a:p>
            <a:pPr>
              <a:spcAft>
                <a:spcPts val="800"/>
              </a:spcAft>
            </a:pPr>
            <a:r>
              <a:rPr sz="1700" b="1" i="0">
                <a:solidFill>
                  <a:srgbClr val="222A33"/>
                </a:solidFill>
                <a:latin typeface="Calibri"/>
              </a:rPr>
              <a:t>•  NLP tabanlı triaj: TF-IDF → BioBERT / ClinicalBERT / PubMedBERT; serbest metinden 0,84 AUROC'a ulaşan çalışmalar.</a:t>
            </a:r>
          </a:p>
          <a:p>
            <a:pPr>
              <a:spcAft>
                <a:spcPts val="800"/>
              </a:spcAft>
            </a:pPr>
            <a:r>
              <a:rPr sz="1700" b="1" i="0">
                <a:solidFill>
                  <a:srgbClr val="222A33"/>
                </a:solidFill>
                <a:latin typeface="Calibri"/>
              </a:rPr>
              <a:t>•  LLM dönemi: Med-PaLM ve Med-Gemini USMLE'de uzman seviyesi; açık kaynak Llama-2/Mistral üzerine LoRA ince ayar (2024+).</a:t>
            </a:r>
          </a:p>
          <a:p>
            <a:pPr>
              <a:spcAft>
                <a:spcPts val="800"/>
              </a:spcAft>
            </a:pPr>
            <a:r>
              <a:rPr sz="1700" b="1" i="0">
                <a:solidFill>
                  <a:srgbClr val="222A33"/>
                </a:solidFill>
                <a:latin typeface="Calibri"/>
              </a:rPr>
              <a:t>•  Türkçe medikal NLP: İngilizce muadillere göre 5–8 puan F1 düşüşü; kaynak ve etiketli veri kısıtlı.</a:t>
            </a:r>
          </a:p>
          <a:p>
            <a:pPr>
              <a:spcAft>
                <a:spcPts val="800"/>
              </a:spcAft>
            </a:pPr>
            <a:r>
              <a:rPr sz="1700" b="1" i="0">
                <a:solidFill>
                  <a:srgbClr val="C0392B"/>
                </a:solidFill>
                <a:latin typeface="Calibri"/>
              </a:rPr>
              <a:t>•  Boşluk: 3 SLM ailesinin Türkçe triajda, klinik güvenlik metrikleriyle yan yana değerlendirildiği kamuya açık bir benchmark yok.</a:t>
            </a:r>
          </a:p>
          <a:p>
            <a:pPr>
              <a:spcAft>
                <a:spcPts val="800"/>
              </a:spcAft>
            </a:pPr>
            <a:r>
              <a:rPr sz="1700" b="1" i="0">
                <a:solidFill>
                  <a:srgbClr val="222A33"/>
                </a:solidFill>
                <a:latin typeface="Calibri"/>
              </a:rPr>
              <a:t>•  Bu çalışma bu boşluğu hedefler (15+ kaynaklı sistematik tarama — bkz. rapor).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 i="0">
                <a:solidFill>
                  <a:srgbClr val="555F6B"/>
                </a:solidFill>
                <a:latin typeface="Calibri"/>
              </a:rPr>
              <a:t>Türkçe Tıbbi Triaj • SLM Benchmark • Selçuk Ü.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 i="0">
                <a:solidFill>
                  <a:srgbClr val="1F3A5F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127729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1" i="0">
                <a:solidFill>
                  <a:srgbClr val="9FB3C8"/>
                </a:solidFill>
                <a:latin typeface="Calibri"/>
              </a:rPr>
              <a:t>3 / Yöntem
</a:t>
            </a:r>
            <a:r>
              <a:rPr sz="2600" b="1" i="0">
                <a:solidFill>
                  <a:srgbClr val="FFFFFF"/>
                </a:solidFill>
                <a:latin typeface="Calibri"/>
              </a:rPr>
              <a:t>Yöntem — Veri ve Etiketleme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12064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500" b="1" i="0">
                <a:solidFill>
                  <a:srgbClr val="222A33"/>
                </a:solidFill>
                <a:latin typeface="Calibri"/>
              </a:rPr>
              <a:t>•  Kaynak: alibayram/doktorsitesi (HF, gated) → 5.000 örnek; seed=42.</a:t>
            </a:r>
          </a:p>
          <a:p>
            <a:pPr>
              <a:spcAft>
                <a:spcPts val="600"/>
              </a:spcAft>
            </a:pPr>
            <a:r>
              <a:rPr sz="1500" b="1" i="0">
                <a:solidFill>
                  <a:srgbClr val="222A33"/>
                </a:solidFill>
                <a:latin typeface="Calibri"/>
              </a:rPr>
              <a:t>•  116 alt-uzmanlık → 23 ana bölüme normalize.</a:t>
            </a:r>
          </a:p>
          <a:p>
            <a:pPr>
              <a:spcAft>
                <a:spcPts val="600"/>
              </a:spcAft>
            </a:pPr>
            <a:r>
              <a:rPr sz="1500" b="1" i="0">
                <a:solidFill>
                  <a:srgbClr val="222A33"/>
                </a:solidFill>
                <a:latin typeface="Calibri"/>
              </a:rPr>
              <a:t>•  Etiketleme: Kaggle triaj veri setinden çıkarılan ayırt edici anahtar kelimelerle 3 katmanlı KURAL TABANLI sınıflandırıcı.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555F6B"/>
                </a:solidFill>
                <a:latin typeface="Calibri"/>
              </a:rPr>
              <a:t>–  STRONG_RED + akut başlangıç + geçmiş-zaman filtresi.</a:t>
            </a:r>
          </a:p>
          <a:p>
            <a:pPr>
              <a:spcAft>
                <a:spcPts val="600"/>
              </a:spcAft>
            </a:pPr>
            <a:r>
              <a:rPr sz="1500" b="1" i="0">
                <a:solidFill>
                  <a:srgbClr val="C0392B"/>
                </a:solidFill>
                <a:latin typeface="Calibri"/>
              </a:rPr>
              <a:t>•  Ciddi dengesizlik: Kırmızı yalnızca %4,1.</a:t>
            </a:r>
          </a:p>
          <a:p>
            <a:pPr>
              <a:spcAft>
                <a:spcPts val="600"/>
              </a:spcAft>
            </a:pPr>
            <a:r>
              <a:rPr sz="1500" b="1" i="0">
                <a:solidFill>
                  <a:srgbClr val="222A33"/>
                </a:solidFill>
                <a:latin typeface="Calibri"/>
              </a:rPr>
              <a:t>•  80/10/10 stratified (triaj×bölüm): 3.972 / 475 / 553.</a:t>
            </a:r>
          </a:p>
        </p:txBody>
      </p:sp>
      <p:pic>
        <p:nvPicPr>
          <p:cNvPr id="7" name="Picture 6" descr="class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371600"/>
            <a:ext cx="8310603" cy="457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 i="0">
                <a:solidFill>
                  <a:srgbClr val="555F6B"/>
                </a:solidFill>
                <a:latin typeface="Calibri"/>
              </a:rPr>
              <a:t>Türkçe Tıbbi Triaj • SLM Benchmark • Selçuk Ü.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 i="0">
                <a:solidFill>
                  <a:srgbClr val="1F3A5F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127729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1" i="0">
                <a:solidFill>
                  <a:srgbClr val="9FB3C8"/>
                </a:solidFill>
                <a:latin typeface="Calibri"/>
              </a:rPr>
              <a:t>3 / Yöntem
</a:t>
            </a:r>
            <a:r>
              <a:rPr sz="2600" b="1" i="0">
                <a:solidFill>
                  <a:srgbClr val="FFFFFF"/>
                </a:solidFill>
                <a:latin typeface="Calibri"/>
              </a:rPr>
              <a:t>Yöntem — Model Seçimi (Zorunlu Setten 3)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417320"/>
          <a:ext cx="113385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645920"/>
                <a:gridCol w="1280160"/>
                <a:gridCol w="1828800"/>
                <a:gridCol w="420624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Parametre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Bağlam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Tokenizer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Mimari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222A33"/>
                          </a:solidFill>
                          <a:latin typeface="Calibri"/>
                        </a:rPr>
                        <a:t>SmolLM2-360M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22A33"/>
                          </a:solidFill>
                          <a:latin typeface="Calibri"/>
                        </a:rPr>
                        <a:t>362 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22A33"/>
                          </a:solidFill>
                          <a:latin typeface="Calibri"/>
                        </a:rPr>
                        <a:t>8K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22A33"/>
                          </a:solidFill>
                          <a:latin typeface="Calibri"/>
                        </a:rPr>
                        <a:t>49.152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22A33"/>
                          </a:solidFill>
                          <a:latin typeface="Calibri"/>
                        </a:rPr>
                        <a:t>Llama2-vari, RoPE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222A33"/>
                          </a:solidFill>
                          <a:latin typeface="Calibri"/>
                        </a:rPr>
                        <a:t>Qwen2.5-1.5B</a:t>
                      </a:r>
                    </a:p>
                  </a:txBody>
                  <a:tcPr anchor="ctr">
                    <a:solidFill>
                      <a:srgbClr val="EC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22A33"/>
                          </a:solidFill>
                          <a:latin typeface="Calibri"/>
                        </a:rPr>
                        <a:t>1,5 B</a:t>
                      </a:r>
                    </a:p>
                  </a:txBody>
                  <a:tcPr anchor="ctr">
                    <a:solidFill>
                      <a:srgbClr val="EC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22A33"/>
                          </a:solidFill>
                          <a:latin typeface="Calibri"/>
                        </a:rPr>
                        <a:t>32K</a:t>
                      </a:r>
                    </a:p>
                  </a:txBody>
                  <a:tcPr anchor="ctr">
                    <a:solidFill>
                      <a:srgbClr val="EC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22A33"/>
                          </a:solidFill>
                          <a:latin typeface="Calibri"/>
                        </a:rPr>
                        <a:t>151.643</a:t>
                      </a:r>
                    </a:p>
                  </a:txBody>
                  <a:tcPr anchor="ctr">
                    <a:solidFill>
                      <a:srgbClr val="EC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22A33"/>
                          </a:solidFill>
                          <a:latin typeface="Calibri"/>
                        </a:rPr>
                        <a:t>GQA + SwiGLU, çok dilli</a:t>
                      </a:r>
                    </a:p>
                  </a:txBody>
                  <a:tcPr anchor="ctr">
                    <a:solidFill>
                      <a:srgbClr val="ECF1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222A33"/>
                          </a:solidFill>
                          <a:latin typeface="Calibri"/>
                        </a:rPr>
                        <a:t>Gemma-4-E2B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22A33"/>
                          </a:solidFill>
                          <a:latin typeface="Calibri"/>
                        </a:rPr>
                        <a:t>~2 B*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22A33"/>
                          </a:solidFill>
                          <a:latin typeface="Calibri"/>
                        </a:rPr>
                        <a:t>8K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22A33"/>
                          </a:solidFill>
                          <a:latin typeface="Calibri"/>
                        </a:rPr>
                        <a:t>256.000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22A33"/>
                          </a:solidFill>
                          <a:latin typeface="Calibri"/>
                        </a:rPr>
                        <a:t>MoE-vari, edge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3383280"/>
            <a:ext cx="1127729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0" i="1">
                <a:solidFill>
                  <a:srgbClr val="555F6B"/>
                </a:solidFill>
                <a:latin typeface="Calibri"/>
              </a:rPr>
              <a:t>* Gemma-4-E2B toplam ağırlık ~5,1 B; etkin parametre ~2 B. Üç farklı mimari ailesi (kapasite tavanı, çok dillilik, edge MoE) bilinçli seçildi.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 i="0">
                <a:solidFill>
                  <a:srgbClr val="555F6B"/>
                </a:solidFill>
                <a:latin typeface="Calibri"/>
              </a:rPr>
              <a:t>Türkçe Tıbbi Triaj • SLM Benchmark • Selçuk Ü.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 i="0">
                <a:solidFill>
                  <a:srgbClr val="1F3A5F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127729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1" i="0">
                <a:solidFill>
                  <a:srgbClr val="9FB3C8"/>
                </a:solidFill>
                <a:latin typeface="Calibri"/>
              </a:rPr>
              <a:t>4 / İnce Ayar
</a:t>
            </a:r>
            <a:r>
              <a:rPr sz="2600" b="1" i="0">
                <a:solidFill>
                  <a:srgbClr val="FFFFFF"/>
                </a:solidFill>
                <a:latin typeface="Calibri"/>
              </a:rPr>
              <a:t>Yöntem — İnce Ayar Stratejisi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700" b="1" i="0">
                <a:solidFill>
                  <a:srgbClr val="222A33"/>
                </a:solidFill>
                <a:latin typeface="Calibri"/>
              </a:rPr>
              <a:t>•  QLoRA (4-bit NF4 + bf16 compute): taban ağırlıklar 4-bit, düşük VRAM.</a:t>
            </a:r>
          </a:p>
          <a:p>
            <a:pPr>
              <a:spcAft>
                <a:spcPts val="800"/>
              </a:spcAft>
            </a:pPr>
            <a:r>
              <a:rPr sz="1700" b="1" i="0">
                <a:solidFill>
                  <a:srgbClr val="222A33"/>
                </a:solidFill>
                <a:latin typeface="Calibri"/>
              </a:rPr>
              <a:t>•  LoRA bf16 (no 4-bit): taban ağırlıklar bf16; 12 GB VRAM'de Qwen için mümkün.</a:t>
            </a:r>
          </a:p>
          <a:p>
            <a:pPr>
              <a:spcAft>
                <a:spcPts val="800"/>
              </a:spcAft>
            </a:pPr>
            <a:r>
              <a:rPr sz="1700" b="1" i="0">
                <a:solidFill>
                  <a:srgbClr val="222A33"/>
                </a:solidFill>
                <a:latin typeface="Calibri"/>
              </a:rPr>
              <a:t>•  LoRA bf16 + Dengeli veri: Kırmızı sınıfı 4× temiz oversample (train_balanced).</a:t>
            </a:r>
          </a:p>
          <a:p>
            <a:pPr>
              <a:spcAft>
                <a:spcPts val="800"/>
              </a:spcAft>
            </a:pPr>
            <a:r>
              <a:rPr sz="1700" b="1" i="0">
                <a:solidFill>
                  <a:srgbClr val="555F6B"/>
                </a:solidFill>
                <a:latin typeface="Calibri"/>
              </a:rPr>
              <a:t>•  Ortak LoRA: r=16, alpha=32, dropout=0,05 (Gemma r=8); paged_adamw_8bit, gradient checkpointing.</a:t>
            </a:r>
          </a:p>
          <a:p>
            <a:pPr>
              <a:spcAft>
                <a:spcPts val="800"/>
              </a:spcAft>
            </a:pPr>
            <a:r>
              <a:rPr sz="1700" b="1" i="0">
                <a:solidFill>
                  <a:srgbClr val="222A33"/>
                </a:solidFill>
                <a:latin typeface="Calibri"/>
              </a:rPr>
              <a:t>•  Prompt şablonu (3 alanlı):  ### Görev → ### Semptom → ### Cevap (JSON: triaj, bölüm, neden).</a:t>
            </a:r>
          </a:p>
          <a:p>
            <a:pPr>
              <a:spcAft>
                <a:spcPts val="800"/>
              </a:spcAft>
            </a:pPr>
            <a:r>
              <a:rPr sz="1700" b="1" i="0">
                <a:solidFill>
                  <a:srgbClr val="555F6B"/>
                </a:solidFill>
                <a:latin typeface="Calibri"/>
              </a:rPr>
              <a:t>•  Donanım: ilk faz NVIDIA DGX Spark GB10; erişim kesintisi sonrası RTX 4070 12 GB (Windows). Latency RTX 4070'te.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 i="0">
                <a:solidFill>
                  <a:srgbClr val="555F6B"/>
                </a:solidFill>
                <a:latin typeface="Calibri"/>
              </a:rPr>
              <a:t>Türkçe Tıbbi Triaj • SLM Benchmark • Selçuk Ü.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 i="0">
                <a:solidFill>
                  <a:srgbClr val="1F3A5F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127729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1" i="0">
                <a:solidFill>
                  <a:srgbClr val="9FB3C8"/>
                </a:solidFill>
                <a:latin typeface="Calibri"/>
              </a:rPr>
              <a:t>5 / Sonuçlar
</a:t>
            </a:r>
            <a:r>
              <a:rPr sz="2600" b="1" i="0">
                <a:solidFill>
                  <a:srgbClr val="FFFFFF"/>
                </a:solidFill>
                <a:latin typeface="Calibri"/>
              </a:rPr>
              <a:t>Eğitim Süreç Detayları (Her Model)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417320"/>
          <a:ext cx="10515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1005840"/>
                <a:gridCol w="1097280"/>
                <a:gridCol w="1188720"/>
                <a:gridCol w="1280160"/>
                <a:gridCol w="1463040"/>
                <a:gridCol w="137160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Model / Yöntem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Epoch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LR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bs×ga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max_len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Süre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eval_loss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SmolLM2 — QLoRA r16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3e-4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8×2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768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62,3 dk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1,625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Qwen2.5 — QLoRA r16</a:t>
                      </a:r>
                    </a:p>
                  </a:txBody>
                  <a:tcPr anchor="ctr">
                    <a:solidFill>
                      <a:srgbClr val="EC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>
                    <a:solidFill>
                      <a:srgbClr val="EC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2e-4</a:t>
                      </a:r>
                    </a:p>
                  </a:txBody>
                  <a:tcPr anchor="ctr">
                    <a:solidFill>
                      <a:srgbClr val="EC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4×4</a:t>
                      </a:r>
                    </a:p>
                  </a:txBody>
                  <a:tcPr anchor="ctr">
                    <a:solidFill>
                      <a:srgbClr val="EC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896</a:t>
                      </a:r>
                    </a:p>
                  </a:txBody>
                  <a:tcPr anchor="ctr">
                    <a:solidFill>
                      <a:srgbClr val="EC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89,2 dk</a:t>
                      </a:r>
                    </a:p>
                  </a:txBody>
                  <a:tcPr anchor="ctr">
                    <a:solidFill>
                      <a:srgbClr val="EC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1,662</a:t>
                      </a:r>
                    </a:p>
                  </a:txBody>
                  <a:tcPr anchor="ctr">
                    <a:solidFill>
                      <a:srgbClr val="ECF1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Qwen2.5 — LoRA bf16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2e-4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2×8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896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35,6 dk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1,615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Qwen2.5 — LoRA dengeli</a:t>
                      </a:r>
                    </a:p>
                  </a:txBody>
                  <a:tcPr anchor="ctr">
                    <a:solidFill>
                      <a:srgbClr val="EC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>
                    <a:solidFill>
                      <a:srgbClr val="EC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2e-4</a:t>
                      </a:r>
                    </a:p>
                  </a:txBody>
                  <a:tcPr anchor="ctr">
                    <a:solidFill>
                      <a:srgbClr val="EC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2×8</a:t>
                      </a:r>
                    </a:p>
                  </a:txBody>
                  <a:tcPr anchor="ctr">
                    <a:solidFill>
                      <a:srgbClr val="EC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896</a:t>
                      </a:r>
                    </a:p>
                  </a:txBody>
                  <a:tcPr anchor="ctr">
                    <a:solidFill>
                      <a:srgbClr val="EC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~36 dk</a:t>
                      </a:r>
                    </a:p>
                  </a:txBody>
                  <a:tcPr anchor="ctr">
                    <a:solidFill>
                      <a:srgbClr val="EC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>
                    <a:solidFill>
                      <a:srgbClr val="ECF1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Gemma-4 — QLoRA r8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1e-4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1×16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512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42,8 dk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297680"/>
            <a:ext cx="1127729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0" i="1">
                <a:solidFill>
                  <a:srgbClr val="555F6B"/>
                </a:solidFill>
                <a:latin typeface="Calibri"/>
              </a:rPr>
              <a:t>LoRA bf16, QLoRA'ya göre ~2,5× daha hızlı ve daha düşük eval_loss (12 GB'de 1,5 B model için QLoRA gerekli değil).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 i="0">
                <a:solidFill>
                  <a:srgbClr val="555F6B"/>
                </a:solidFill>
                <a:latin typeface="Calibri"/>
              </a:rPr>
              <a:t>Türkçe Tıbbi Triaj • SLM Benchmark • Selçuk Ü.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 i="0">
                <a:solidFill>
                  <a:srgbClr val="1F3A5F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127729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1" i="0">
                <a:solidFill>
                  <a:srgbClr val="9FB3C8"/>
                </a:solidFill>
                <a:latin typeface="Calibri"/>
              </a:rPr>
              <a:t>5 / Sonuçlar
</a:t>
            </a:r>
            <a:r>
              <a:rPr sz="2600" b="1" i="0">
                <a:solidFill>
                  <a:srgbClr val="FFFFFF"/>
                </a:solidFill>
                <a:latin typeface="Calibri"/>
              </a:rPr>
              <a:t>Zero-Shot Baseline (Fine-tuning Öncesi)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700" b="1" i="0">
                <a:solidFill>
                  <a:srgbClr val="222A33"/>
                </a:solidFill>
                <a:latin typeface="Calibri"/>
              </a:rPr>
              <a:t>•  Üç modelin de zero-shot performansı aynı metriklerle ölçüldü (n=553).</a:t>
            </a:r>
          </a:p>
          <a:p>
            <a:pPr>
              <a:spcAft>
                <a:spcPts val="800"/>
              </a:spcAft>
            </a:pPr>
            <a:r>
              <a:rPr sz="1700" b="1" i="0">
                <a:solidFill>
                  <a:srgbClr val="555F6B"/>
                </a:solidFill>
                <a:latin typeface="Calibri"/>
              </a:rPr>
              <a:t>•  SmolLM2: JSON parse başarısı yalnızca %2,7 → accuracy ≈ 0.</a:t>
            </a:r>
          </a:p>
          <a:p>
            <a:pPr>
              <a:spcAft>
                <a:spcPts val="800"/>
              </a:spcAft>
            </a:pPr>
            <a:r>
              <a:rPr sz="1700" b="1" i="0">
                <a:solidFill>
                  <a:srgbClr val="555F6B"/>
                </a:solidFill>
                <a:latin typeface="Calibri"/>
              </a:rPr>
              <a:t>•  Qwen2.5: parse %80 ama geçerli Türkçe etiket üretemiyor → accuracy = 0.</a:t>
            </a:r>
          </a:p>
          <a:p>
            <a:pPr>
              <a:spcAft>
                <a:spcPts val="800"/>
              </a:spcAft>
            </a:pPr>
            <a:r>
              <a:rPr sz="1700" b="1" i="0">
                <a:solidFill>
                  <a:srgbClr val="555F6B"/>
                </a:solidFill>
                <a:latin typeface="Calibri"/>
              </a:rPr>
              <a:t>•  Gemma-4: parse %56, accuracy 0,139 (Macro-F1 0,118).</a:t>
            </a:r>
          </a:p>
          <a:p>
            <a:pPr>
              <a:spcAft>
                <a:spcPts val="800"/>
              </a:spcAft>
            </a:pPr>
            <a:r>
              <a:rPr sz="1700" b="1" i="0">
                <a:solidFill>
                  <a:srgbClr val="C0392B"/>
                </a:solidFill>
                <a:latin typeface="Calibri"/>
              </a:rPr>
              <a:t>•  Sonuç: Görev-özel çıktı formatı (JSON + Türkçe etiket) zero-shot ile güvenilir üretilemiyor.</a:t>
            </a:r>
          </a:p>
          <a:p>
            <a:pPr>
              <a:spcAft>
                <a:spcPts val="800"/>
              </a:spcAft>
            </a:pPr>
            <a:r>
              <a:rPr sz="1700" b="1" i="0">
                <a:solidFill>
                  <a:srgbClr val="222A33"/>
                </a:solidFill>
                <a:latin typeface="Calibri"/>
              </a:rPr>
              <a:t>•  → İnce ayar bu görev için zorunlu; baseline ile FT arasında büyük sıçrama var.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 i="0">
                <a:solidFill>
                  <a:srgbClr val="555F6B"/>
                </a:solidFill>
                <a:latin typeface="Calibri"/>
              </a:rPr>
              <a:t>Türkçe Tıbbi Triaj • SLM Benchmark • Selçuk Ü.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 i="0">
                <a:solidFill>
                  <a:srgbClr val="1F3A5F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127729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1" i="0">
                <a:solidFill>
                  <a:srgbClr val="9FB3C8"/>
                </a:solidFill>
                <a:latin typeface="Calibri"/>
              </a:rPr>
              <a:t>5 / Sonuçlar
</a:t>
            </a:r>
            <a:r>
              <a:rPr sz="2600" b="1" i="0">
                <a:solidFill>
                  <a:srgbClr val="FFFFFF"/>
                </a:solidFill>
                <a:latin typeface="Calibri"/>
              </a:rPr>
              <a:t>Standart Sonuç Tablosu (Benchmark Protokolü)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417320"/>
          <a:ext cx="106070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914400"/>
                <a:gridCol w="1554480"/>
                <a:gridCol w="914400"/>
                <a:gridCol w="1188720"/>
                <a:gridCol w="1280160"/>
                <a:gridCol w="1188720"/>
                <a:gridCol w="137160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Param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FT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Acc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Macro-F1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Eğitim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Inf. (ms)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Boyut (MB)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222A33"/>
                          </a:solidFill>
                          <a:latin typeface="Calibri"/>
                        </a:rPr>
                        <a:t>SmolLM2-360M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22A33"/>
                          </a:solidFill>
                          <a:latin typeface="Calibri"/>
                        </a:rPr>
                        <a:t>362M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22A33"/>
                          </a:solidFill>
                          <a:latin typeface="Calibri"/>
                        </a:rPr>
                        <a:t>QLoRA r16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22A33"/>
                          </a:solidFill>
                          <a:latin typeface="Calibri"/>
                        </a:rPr>
                        <a:t>0,562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22A33"/>
                          </a:solidFill>
                          <a:latin typeface="Calibri"/>
                        </a:rPr>
                        <a:t>0,244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22A33"/>
                          </a:solidFill>
                          <a:latin typeface="Calibri"/>
                        </a:rPr>
                        <a:t>62,3 dk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22A33"/>
                          </a:solidFill>
                          <a:latin typeface="Calibri"/>
                        </a:rPr>
                        <a:t>1.706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22A33"/>
                          </a:solidFill>
                          <a:latin typeface="Calibri"/>
                        </a:rPr>
                        <a:t>21,0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222A33"/>
                          </a:solidFill>
                          <a:latin typeface="Calibri"/>
                        </a:rPr>
                        <a:t>Qwen2.5-1.5B</a:t>
                      </a:r>
                    </a:p>
                  </a:txBody>
                  <a:tcPr anchor="ctr">
                    <a:solidFill>
                      <a:srgbClr val="EC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22A33"/>
                          </a:solidFill>
                          <a:latin typeface="Calibri"/>
                        </a:rPr>
                        <a:t>1,5B</a:t>
                      </a:r>
                    </a:p>
                  </a:txBody>
                  <a:tcPr anchor="ctr">
                    <a:solidFill>
                      <a:srgbClr val="EC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22A33"/>
                          </a:solidFill>
                          <a:latin typeface="Calibri"/>
                        </a:rPr>
                        <a:t>QLoRA r16</a:t>
                      </a:r>
                    </a:p>
                  </a:txBody>
                  <a:tcPr anchor="ctr">
                    <a:solidFill>
                      <a:srgbClr val="EC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22A33"/>
                          </a:solidFill>
                          <a:latin typeface="Calibri"/>
                        </a:rPr>
                        <a:t>0,622</a:t>
                      </a:r>
                    </a:p>
                  </a:txBody>
                  <a:tcPr anchor="ctr">
                    <a:solidFill>
                      <a:srgbClr val="EC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22A33"/>
                          </a:solidFill>
                          <a:latin typeface="Calibri"/>
                        </a:rPr>
                        <a:t>0,260</a:t>
                      </a:r>
                    </a:p>
                  </a:txBody>
                  <a:tcPr anchor="ctr">
                    <a:solidFill>
                      <a:srgbClr val="EC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22A33"/>
                          </a:solidFill>
                          <a:latin typeface="Calibri"/>
                        </a:rPr>
                        <a:t>89,2 dk</a:t>
                      </a:r>
                    </a:p>
                  </a:txBody>
                  <a:tcPr anchor="ctr">
                    <a:solidFill>
                      <a:srgbClr val="EC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22A33"/>
                          </a:solidFill>
                          <a:latin typeface="Calibri"/>
                        </a:rPr>
                        <a:t>1.391</a:t>
                      </a:r>
                    </a:p>
                  </a:txBody>
                  <a:tcPr anchor="ctr">
                    <a:solidFill>
                      <a:srgbClr val="EC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22A33"/>
                          </a:solidFill>
                          <a:latin typeface="Calibri"/>
                        </a:rPr>
                        <a:t>48,4</a:t>
                      </a:r>
                    </a:p>
                  </a:txBody>
                  <a:tcPr anchor="ctr">
                    <a:solidFill>
                      <a:srgbClr val="ECF1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222A33"/>
                          </a:solidFill>
                          <a:latin typeface="Calibri"/>
                        </a:rPr>
                        <a:t>Qwen2.5-1.5B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22A33"/>
                          </a:solidFill>
                          <a:latin typeface="Calibri"/>
                        </a:rPr>
                        <a:t>1,5B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22A33"/>
                          </a:solidFill>
                          <a:latin typeface="Calibri"/>
                        </a:rPr>
                        <a:t>LoRA bf16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22A33"/>
                          </a:solidFill>
                          <a:latin typeface="Calibri"/>
                        </a:rPr>
                        <a:t>0,624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22A33"/>
                          </a:solidFill>
                          <a:latin typeface="Calibri"/>
                        </a:rPr>
                        <a:t>0,256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22A33"/>
                          </a:solidFill>
                          <a:latin typeface="Calibri"/>
                        </a:rPr>
                        <a:t>35,6 dk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22A33"/>
                          </a:solidFill>
                          <a:latin typeface="Calibri"/>
                        </a:rPr>
                        <a:t>1.463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22A33"/>
                          </a:solidFill>
                          <a:latin typeface="Calibri"/>
                        </a:rPr>
                        <a:t>85,3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222A33"/>
                          </a:solidFill>
                          <a:latin typeface="Calibri"/>
                        </a:rPr>
                        <a:t>Gemma-4-E2B</a:t>
                      </a:r>
                    </a:p>
                  </a:txBody>
                  <a:tcPr anchor="ctr">
                    <a:solidFill>
                      <a:srgbClr val="EC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22A33"/>
                          </a:solidFill>
                          <a:latin typeface="Calibri"/>
                        </a:rPr>
                        <a:t>~2B</a:t>
                      </a:r>
                    </a:p>
                  </a:txBody>
                  <a:tcPr anchor="ctr">
                    <a:solidFill>
                      <a:srgbClr val="EC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22A33"/>
                          </a:solidFill>
                          <a:latin typeface="Calibri"/>
                        </a:rPr>
                        <a:t>QLoRA r8</a:t>
                      </a:r>
                    </a:p>
                  </a:txBody>
                  <a:tcPr anchor="ctr">
                    <a:solidFill>
                      <a:srgbClr val="EC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22A33"/>
                          </a:solidFill>
                          <a:latin typeface="Calibri"/>
                        </a:rPr>
                        <a:t>0,624</a:t>
                      </a:r>
                    </a:p>
                  </a:txBody>
                  <a:tcPr anchor="ctr">
                    <a:solidFill>
                      <a:srgbClr val="EC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22A33"/>
                          </a:solidFill>
                          <a:latin typeface="Calibri"/>
                        </a:rPr>
                        <a:t>0,256</a:t>
                      </a:r>
                    </a:p>
                  </a:txBody>
                  <a:tcPr anchor="ctr">
                    <a:solidFill>
                      <a:srgbClr val="EC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22A33"/>
                          </a:solidFill>
                          <a:latin typeface="Calibri"/>
                        </a:rPr>
                        <a:t>42,8 dk</a:t>
                      </a:r>
                    </a:p>
                  </a:txBody>
                  <a:tcPr anchor="ctr">
                    <a:solidFill>
                      <a:srgbClr val="EC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22A33"/>
                          </a:solidFill>
                          <a:latin typeface="Calibri"/>
                        </a:rPr>
                        <a:t>2.733</a:t>
                      </a:r>
                    </a:p>
                  </a:txBody>
                  <a:tcPr anchor="ctr">
                    <a:solidFill>
                      <a:srgbClr val="EC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22A33"/>
                          </a:solidFill>
                          <a:latin typeface="Calibri"/>
                        </a:rPr>
                        <a:t>70,3</a:t>
                      </a:r>
                    </a:p>
                  </a:txBody>
                  <a:tcPr anchor="ctr">
                    <a:solidFill>
                      <a:srgbClr val="ECF1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222A33"/>
                          </a:solidFill>
                          <a:latin typeface="Calibri"/>
                        </a:rPr>
                        <a:t>Qwen2.5-1.5B</a:t>
                      </a:r>
                    </a:p>
                  </a:txBody>
                  <a:tcPr anchor="ctr"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222A33"/>
                          </a:solidFill>
                          <a:latin typeface="Calibri"/>
                        </a:rPr>
                        <a:t>1,5B</a:t>
                      </a:r>
                    </a:p>
                  </a:txBody>
                  <a:tcPr anchor="ctr"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222A33"/>
                          </a:solidFill>
                          <a:latin typeface="Calibri"/>
                        </a:rPr>
                        <a:t>LoRA dengeli</a:t>
                      </a:r>
                    </a:p>
                  </a:txBody>
                  <a:tcPr anchor="ctr"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222A33"/>
                          </a:solidFill>
                          <a:latin typeface="Calibri"/>
                        </a:rPr>
                        <a:t>0,618</a:t>
                      </a:r>
                    </a:p>
                  </a:txBody>
                  <a:tcPr anchor="ctr"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222A33"/>
                          </a:solidFill>
                          <a:latin typeface="Calibri"/>
                        </a:rPr>
                        <a:t>0,390</a:t>
                      </a:r>
                    </a:p>
                  </a:txBody>
                  <a:tcPr anchor="ctr"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222A33"/>
                          </a:solidFill>
                          <a:latin typeface="Calibri"/>
                        </a:rPr>
                        <a:t>~36 dk</a:t>
                      </a:r>
                    </a:p>
                  </a:txBody>
                  <a:tcPr anchor="ctr"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222A33"/>
                          </a:solidFill>
                          <a:latin typeface="Calibri"/>
                        </a:rPr>
                        <a:t>1.407</a:t>
                      </a:r>
                    </a:p>
                  </a:txBody>
                  <a:tcPr anchor="ctr"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222A33"/>
                          </a:solidFill>
                          <a:latin typeface="Calibri"/>
                        </a:rPr>
                        <a:t>85,3</a:t>
                      </a:r>
                    </a:p>
                  </a:txBody>
                  <a:tcPr anchor="ctr">
                    <a:solidFill>
                      <a:srgbClr val="FDECE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297680"/>
            <a:ext cx="1127729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0" i="1">
                <a:solidFill>
                  <a:srgbClr val="555F6B"/>
                </a:solidFill>
                <a:latin typeface="Calibri"/>
              </a:rPr>
              <a:t>Boyutlar adapter-only. En iyi: dengeli Qwen2.5-1.5B (Macro-F1 0,390). Metrikler: Accuracy + Macro-F1 (Weighted-F1 ve güvenlik metrikleri raporda).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 i="0">
                <a:solidFill>
                  <a:srgbClr val="555F6B"/>
                </a:solidFill>
                <a:latin typeface="Calibri"/>
              </a:rPr>
              <a:t>Türkçe Tıbbi Triaj • SLM Benchmark • Selçuk Ü.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 i="0">
                <a:solidFill>
                  <a:srgbClr val="1F3A5F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127729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1" i="0">
                <a:solidFill>
                  <a:srgbClr val="9FB3C8"/>
                </a:solidFill>
                <a:latin typeface="Calibri"/>
              </a:rPr>
              <a:t>5 / Sonuçlar
</a:t>
            </a:r>
            <a:r>
              <a:rPr sz="2600" b="1" i="0">
                <a:solidFill>
                  <a:srgbClr val="FFFFFF"/>
                </a:solidFill>
                <a:latin typeface="Calibri"/>
              </a:rPr>
              <a:t>Sınıf Dengesizliği Müdahalesi (Qwen2.5-1.5B)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12064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500" b="1" i="0">
                <a:solidFill>
                  <a:srgbClr val="222A33"/>
                </a:solidFill>
                <a:latin typeface="Calibri"/>
              </a:rPr>
              <a:t>•  İlk FT'de tüm modeller ~%62,4'e yakınsadı = test Sarı oranı → hepsi Sarı'ya çöktü, FNR-Red = 1,000.</a:t>
            </a:r>
          </a:p>
          <a:p>
            <a:pPr>
              <a:spcAft>
                <a:spcPts val="600"/>
              </a:spcAft>
            </a:pPr>
            <a:r>
              <a:rPr sz="1500" b="1" i="0">
                <a:solidFill>
                  <a:srgbClr val="222A33"/>
                </a:solidFill>
                <a:latin typeface="Calibri"/>
              </a:rPr>
              <a:t>•  Kırmızı 4× oversample (dengeli veri) sonrası:</a:t>
            </a:r>
          </a:p>
          <a:p>
            <a:pPr lvl="1">
              <a:spcAft>
                <a:spcPts val="600"/>
              </a:spcAft>
            </a:pPr>
            <a:r>
              <a:rPr sz="1300" b="1" i="0">
                <a:solidFill>
                  <a:srgbClr val="2E7D32"/>
                </a:solidFill>
                <a:latin typeface="Calibri"/>
              </a:rPr>
              <a:t>–  Macro-F1: 0,256 → 0,390  (+%52 göreli)</a:t>
            </a:r>
          </a:p>
          <a:p>
            <a:pPr lvl="1">
              <a:spcAft>
                <a:spcPts val="600"/>
              </a:spcAft>
            </a:pPr>
            <a:r>
              <a:rPr sz="1300" b="1" i="0">
                <a:solidFill>
                  <a:srgbClr val="C62828"/>
                </a:solidFill>
                <a:latin typeface="Calibri"/>
              </a:rPr>
              <a:t>–  FNR-Red: 1,000 → 0,529  (−0,471)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555F6B"/>
                </a:solidFill>
                <a:latin typeface="Calibri"/>
              </a:rPr>
              <a:t>–  FGR: 0,000 korundu (yanlış-yeşil yok).</a:t>
            </a:r>
          </a:p>
          <a:p>
            <a:pPr>
              <a:spcAft>
                <a:spcPts val="600"/>
              </a:spcAft>
            </a:pPr>
            <a:r>
              <a:rPr sz="1500" b="1" i="0">
                <a:solidFill>
                  <a:srgbClr val="C0392B"/>
                </a:solidFill>
                <a:latin typeface="Calibri"/>
              </a:rPr>
              <a:t>•  Yine de FNR-Red, klinik eşiğin (&lt;%5–10) çok üzerinde.</a:t>
            </a:r>
          </a:p>
        </p:txBody>
      </p:sp>
      <p:pic>
        <p:nvPicPr>
          <p:cNvPr id="7" name="Picture 6" descr="metric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371600"/>
            <a:ext cx="12913758" cy="457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 i="0">
                <a:solidFill>
                  <a:srgbClr val="555F6B"/>
                </a:solidFill>
                <a:latin typeface="Calibri"/>
              </a:rPr>
              <a:t>Türkçe Tıbbi Triaj • SLM Benchmark • Selçuk Ü.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 i="0">
                <a:solidFill>
                  <a:srgbClr val="1F3A5F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127729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1" i="0">
                <a:solidFill>
                  <a:srgbClr val="9FB3C8"/>
                </a:solidFill>
                <a:latin typeface="Calibri"/>
              </a:rPr>
              <a:t>5 / Sonuçlar
</a:t>
            </a:r>
            <a:r>
              <a:rPr sz="2600" b="1" i="0">
                <a:solidFill>
                  <a:srgbClr val="FFFFFF"/>
                </a:solidFill>
                <a:latin typeface="Calibri"/>
              </a:rPr>
              <a:t>Boyut–Performans (Pareto) ve Cascade Bulgusu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12064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500" b="1" i="0">
                <a:solidFill>
                  <a:srgbClr val="222A33"/>
                </a:solidFill>
                <a:latin typeface="Calibri"/>
              </a:rPr>
              <a:t>•  Pareto: Qwen2.5-1.5B en iyi boyut/performans dengesi.</a:t>
            </a:r>
          </a:p>
          <a:p>
            <a:pPr>
              <a:spcAft>
                <a:spcPts val="600"/>
              </a:spcAft>
            </a:pPr>
            <a:r>
              <a:rPr sz="1500" b="1" i="0">
                <a:solidFill>
                  <a:srgbClr val="555F6B"/>
                </a:solidFill>
                <a:latin typeface="Calibri"/>
              </a:rPr>
              <a:t>•  Gemma ~2B, Qwen 1,5B ile aynı Macro-F1 (0,256) — kapasite tek başına yetmiyor.</a:t>
            </a:r>
          </a:p>
          <a:p>
            <a:pPr>
              <a:spcAft>
                <a:spcPts val="600"/>
              </a:spcAft>
            </a:pPr>
            <a:r>
              <a:rPr sz="1500" b="1" i="0">
                <a:solidFill>
                  <a:srgbClr val="C0392B"/>
                </a:solidFill>
                <a:latin typeface="Calibri"/>
              </a:rPr>
              <a:t>•  Cascade (L1→L2→L3) NEGATİF bulgu: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555F6B"/>
                </a:solidFill>
                <a:latin typeface="Calibri"/>
              </a:rPr>
              <a:t>–  Tek model Qwen-dengeli ile ~bit-aynı sonuç.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555F6B"/>
                </a:solidFill>
                <a:latin typeface="Calibri"/>
              </a:rPr>
              <a:t>–  ~11× ek gecikme, katma değer yok.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555F6B"/>
                </a:solidFill>
                <a:latin typeface="Calibri"/>
              </a:rPr>
              <a:t>–  Neden: erken durdurma çalışmıyor — hiçbir katman Yeşil üretemiyor, her örnek L3'e eskale oluyor.</a:t>
            </a:r>
          </a:p>
        </p:txBody>
      </p:sp>
      <p:pic>
        <p:nvPicPr>
          <p:cNvPr id="7" name="Picture 6" descr="pareto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371600"/>
            <a:ext cx="6945798" cy="457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 i="0">
                <a:solidFill>
                  <a:srgbClr val="555F6B"/>
                </a:solidFill>
                <a:latin typeface="Calibri"/>
              </a:rPr>
              <a:t>Türkçe Tıbbi Triaj • SLM Benchmark • Selçuk Ü.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 i="0">
                <a:solidFill>
                  <a:srgbClr val="1F3A5F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127729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1" i="0">
                <a:solidFill>
                  <a:srgbClr val="9FB3C8"/>
                </a:solidFill>
                <a:latin typeface="Calibri"/>
              </a:rPr>
              <a:t>6 / Hata Analizi
</a:t>
            </a:r>
            <a:r>
              <a:rPr sz="2600" b="1" i="0">
                <a:solidFill>
                  <a:srgbClr val="FFFFFF"/>
                </a:solidFill>
                <a:latin typeface="Calibri"/>
              </a:rPr>
              <a:t>Hata Analizi (Qwen2.5 Dengeli)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12064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300" b="1" i="0">
                <a:solidFill>
                  <a:srgbClr val="222A33"/>
                </a:solidFill>
                <a:latin typeface="Calibri"/>
              </a:rPr>
              <a:t>•  211/553 hata. Baskın patern: Yeşil→Sarı (164, %77,7).</a:t>
            </a:r>
          </a:p>
          <a:p>
            <a:pPr>
              <a:spcAft>
                <a:spcPts val="600"/>
              </a:spcAft>
            </a:pPr>
            <a:r>
              <a:rPr sz="1300" b="1" i="0">
                <a:solidFill>
                  <a:srgbClr val="555F6B"/>
                </a:solidFill>
                <a:latin typeface="Calibri"/>
              </a:rPr>
              <a:t>•  Vaka 1 (idx=3): geçmiş travma → PAST_TENSE filtresi Kırmızı'yı maskeledi (Kırmızı→Sarı).</a:t>
            </a:r>
          </a:p>
          <a:p>
            <a:pPr>
              <a:spcAft>
                <a:spcPts val="600"/>
              </a:spcAft>
            </a:pPr>
            <a:r>
              <a:rPr sz="1300" b="1" i="0">
                <a:solidFill>
                  <a:srgbClr val="555F6B"/>
                </a:solidFill>
                <a:latin typeface="Calibri"/>
              </a:rPr>
              <a:t>•  Vaka 2 (idx=12): kronik/danışma sorusu → Yeşil→Sarı yumuşak yüksek tahmin.</a:t>
            </a:r>
          </a:p>
          <a:p>
            <a:pPr>
              <a:spcAft>
                <a:spcPts val="600"/>
              </a:spcAft>
            </a:pPr>
            <a:r>
              <a:rPr sz="1300" b="1" i="0">
                <a:solidFill>
                  <a:srgbClr val="555F6B"/>
                </a:solidFill>
                <a:latin typeface="Calibri"/>
              </a:rPr>
              <a:t>•  Vaka 3 (idx=302): cascade aşırı eskalasyon → Yeşil→Kırmızı.</a:t>
            </a:r>
          </a:p>
          <a:p>
            <a:pPr>
              <a:spcAft>
                <a:spcPts val="600"/>
              </a:spcAft>
            </a:pPr>
            <a:r>
              <a:rPr sz="1300" b="1" i="0">
                <a:solidFill>
                  <a:srgbClr val="555F6B"/>
                </a:solidFill>
                <a:latin typeface="Calibri"/>
              </a:rPr>
              <a:t>•  Vaka 4 (idx=10): meme asimetrisi → bölüm Genel Cerrahi yerine Ortopedi (anatomik karışıklık).</a:t>
            </a:r>
          </a:p>
          <a:p>
            <a:pPr>
              <a:spcAft>
                <a:spcPts val="600"/>
              </a:spcAft>
            </a:pPr>
            <a:r>
              <a:rPr sz="1300" b="1" i="0">
                <a:solidFill>
                  <a:srgbClr val="2E7D32"/>
                </a:solidFill>
                <a:latin typeface="Calibri"/>
              </a:rPr>
              <a:t>•  Vaka 5 (idx=15): kritik vaka doğru Kırmızı yakalandı (bölüm Kardiyoloji ~ kabul edilebilir).</a:t>
            </a:r>
          </a:p>
          <a:p>
            <a:pPr>
              <a:spcAft>
                <a:spcPts val="600"/>
              </a:spcAft>
            </a:pPr>
            <a:r>
              <a:rPr sz="1300" b="1" i="0">
                <a:solidFill>
                  <a:srgbClr val="C0392B"/>
                </a:solidFill>
                <a:latin typeface="Calibri"/>
              </a:rPr>
              <a:t>•  Yeşil sınıfı 9 yapılandırmanın hiçbirinde yakalanamadı (F1=0): dilsel örtüşme + etiket gürültüsü + çoğunluk baskısı.</a:t>
            </a:r>
          </a:p>
        </p:txBody>
      </p:sp>
      <p:pic>
        <p:nvPicPr>
          <p:cNvPr id="7" name="Picture 6" descr="confusion_matrices_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371600"/>
            <a:ext cx="4242380" cy="457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 i="0">
                <a:solidFill>
                  <a:srgbClr val="555F6B"/>
                </a:solidFill>
                <a:latin typeface="Calibri"/>
              </a:rPr>
              <a:t>Türkçe Tıbbi Triaj • SLM Benchmark • Selçuk Ü.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 i="0">
                <a:solidFill>
                  <a:srgbClr val="1F3A5F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127729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1" i="0">
                <a:solidFill>
                  <a:srgbClr val="9FB3C8"/>
                </a:solidFill>
                <a:latin typeface="Calibri"/>
              </a:rPr>
              <a:t>7 / Tartışma
</a:t>
            </a:r>
            <a:r>
              <a:rPr sz="2600" b="1" i="0">
                <a:solidFill>
                  <a:srgbClr val="FFFFFF"/>
                </a:solidFill>
                <a:latin typeface="Calibri"/>
              </a:rPr>
              <a:t>Tartışma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222A33"/>
                </a:solidFill>
                <a:latin typeface="Calibri"/>
              </a:rPr>
              <a:t>•  Boyut-performans: Qwen (1,5B) &gt; SmolLM2 (360M) +0,146 Macro-F1; ama Gemma (~2B) = Qwen — veri ve veriye uyarlanmış mimari, kapasite kadar önemli.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222A33"/>
                </a:solidFill>
                <a:latin typeface="Calibri"/>
              </a:rPr>
              <a:t>•  LoRA bf16 vs QLoRA: bf16 2,5× hızlı + daha düşük eval_loss → 12 GB'de QLoRA gereksiz; QLoRA'nın değeri &lt;8 GB veya 7B+ modellerde.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222A33"/>
                </a:solidFill>
                <a:latin typeface="Calibri"/>
              </a:rPr>
              <a:t>•  Dengeleme: veri-seviyesi oversample tek başına yetmez; loss-seviyesi (class-weighted CE, focal loss) gerekli.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222A33"/>
                </a:solidFill>
                <a:latin typeface="Calibri"/>
              </a:rPr>
              <a:t>•  Edge uygunluk:</a:t>
            </a:r>
          </a:p>
          <a:p>
            <a:pPr lvl="1">
              <a:spcAft>
                <a:spcPts val="800"/>
              </a:spcAft>
            </a:pPr>
            <a:r>
              <a:rPr sz="1400" b="0" i="0">
                <a:solidFill>
                  <a:srgbClr val="555F6B"/>
                </a:solidFill>
                <a:latin typeface="Calibri"/>
              </a:rPr>
              <a:t>–  SmolLM2 (0,87 GB) Raspberry Pi sınıfı — ama Macro-F1 yetersiz.</a:t>
            </a:r>
          </a:p>
          <a:p>
            <a:pPr lvl="1">
              <a:spcAft>
                <a:spcPts val="800"/>
              </a:spcAft>
            </a:pPr>
            <a:r>
              <a:rPr sz="1400" b="0" i="0">
                <a:solidFill>
                  <a:srgbClr val="2E7D32"/>
                </a:solidFill>
                <a:latin typeface="Calibri"/>
              </a:rPr>
              <a:t>–  Qwen2.5 (3,28 GB) telefon/Jetson Orin Nano — kabul edilebilir başlangıç.</a:t>
            </a:r>
          </a:p>
          <a:p>
            <a:pPr lvl="1">
              <a:spcAft>
                <a:spcPts val="800"/>
              </a:spcAft>
            </a:pPr>
            <a:r>
              <a:rPr sz="1400" b="0" i="0">
                <a:solidFill>
                  <a:srgbClr val="555F6B"/>
                </a:solidFill>
                <a:latin typeface="Calibri"/>
              </a:rPr>
              <a:t>–  Gemma (10,42 GB) yalnızca masaüstü GPU/bulut — edge vaadi Türkçe'de gerçekleşmedi.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 i="0">
                <a:solidFill>
                  <a:srgbClr val="555F6B"/>
                </a:solidFill>
                <a:latin typeface="Calibri"/>
              </a:rPr>
              <a:t>Türkçe Tıbbi Triaj • SLM Benchmark • Selçuk Ü.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 i="0">
                <a:solidFill>
                  <a:srgbClr val="1F3A5F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127729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1" i="0">
                <a:solidFill>
                  <a:srgbClr val="9FB3C8"/>
                </a:solidFill>
                <a:latin typeface="Calibri"/>
              </a:rPr>
              <a:t>8 / Sınırlamalar
</a:t>
            </a:r>
            <a:r>
              <a:rPr sz="2600" b="1" i="0">
                <a:solidFill>
                  <a:srgbClr val="FFFFFF"/>
                </a:solidFill>
                <a:latin typeface="Calibri"/>
              </a:rPr>
              <a:t>Sınırlamalar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700" b="1" i="0">
                <a:solidFill>
                  <a:srgbClr val="C0392B"/>
                </a:solidFill>
                <a:latin typeface="Calibri"/>
              </a:rPr>
              <a:t>•  FNR-Red = 0,529 — klinik eşiğin (&lt;%5–10) çok üzerinde; üretime uygun DEĞİL.</a:t>
            </a:r>
          </a:p>
          <a:p>
            <a:pPr>
              <a:spcAft>
                <a:spcPts val="800"/>
              </a:spcAft>
            </a:pPr>
            <a:r>
              <a:rPr sz="1700" b="1" i="0">
                <a:solidFill>
                  <a:srgbClr val="222A33"/>
                </a:solidFill>
                <a:latin typeface="Calibri"/>
              </a:rPr>
              <a:t>•  Yeşil sınıfı F1 = 0 (hiç yakalanamadı).</a:t>
            </a:r>
          </a:p>
          <a:p>
            <a:pPr>
              <a:spcAft>
                <a:spcPts val="800"/>
              </a:spcAft>
            </a:pPr>
            <a:r>
              <a:rPr sz="1700" b="1" i="0">
                <a:solidFill>
                  <a:srgbClr val="222A33"/>
                </a:solidFill>
                <a:latin typeface="Calibri"/>
              </a:rPr>
              <a:t>•  Tek tohum (seed=42): çoklu tohum (≥3) ile ortalama±std ve anlamlılık testi yapılmadı → gelecek çalışma.</a:t>
            </a:r>
          </a:p>
          <a:p>
            <a:pPr>
              <a:spcAft>
                <a:spcPts val="800"/>
              </a:spcAft>
            </a:pPr>
            <a:r>
              <a:rPr sz="1700" b="1" i="0">
                <a:solidFill>
                  <a:srgbClr val="222A33"/>
                </a:solidFill>
                <a:latin typeface="Calibri"/>
              </a:rPr>
              <a:t>•  Kural tabanlı etiketler doktor doğrulamasından geçmedi (etiket gürültüsü).</a:t>
            </a:r>
          </a:p>
          <a:p>
            <a:pPr>
              <a:spcAft>
                <a:spcPts val="800"/>
              </a:spcAft>
            </a:pPr>
            <a:r>
              <a:rPr sz="1700" b="1" i="0">
                <a:solidFill>
                  <a:srgbClr val="555F6B"/>
                </a:solidFill>
                <a:latin typeface="Calibri"/>
              </a:rPr>
              <a:t>•  doktorsitesi dağılımı kadın doğum/pediatri ağırlıklı; Acil Tip az temsil.</a:t>
            </a:r>
          </a:p>
          <a:p>
            <a:pPr>
              <a:spcAft>
                <a:spcPts val="800"/>
              </a:spcAft>
            </a:pPr>
            <a:r>
              <a:rPr sz="1700" b="1" i="0">
                <a:solidFill>
                  <a:srgbClr val="C0392B"/>
                </a:solidFill>
                <a:latin typeface="Calibri"/>
              </a:rPr>
              <a:t>•  Sistem bir ARAŞTIRMA PROTOTİPİDİR — hekim doğrulaması olmadan kullanılmamalıdır.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 i="0">
                <a:solidFill>
                  <a:srgbClr val="555F6B"/>
                </a:solidFill>
                <a:latin typeface="Calibri"/>
              </a:rPr>
              <a:t>Türkçe Tıbbi Triaj • SLM Benchmark • Selçuk Ü.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 i="0">
                <a:solidFill>
                  <a:srgbClr val="1F3A5F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127729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1" i="0">
                <a:solidFill>
                  <a:srgbClr val="9FB3C8"/>
                </a:solidFill>
                <a:latin typeface="Calibri"/>
              </a:rPr>
              <a:t>9 / Sonuç
</a:t>
            </a:r>
            <a:r>
              <a:rPr sz="2600" b="1" i="0">
                <a:solidFill>
                  <a:srgbClr val="FFFFFF"/>
                </a:solidFill>
                <a:latin typeface="Calibri"/>
              </a:rPr>
              <a:t>Sonuç ve Gelecek Çalışmalar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222A33"/>
                </a:solidFill>
                <a:latin typeface="Calibri"/>
              </a:rPr>
              <a:t>•  3 SLM ailesi Türkçe triajda klinik güvenlik metrikleriyle ilk kez yan yana kıyaslandı.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222A33"/>
                </a:solidFill>
                <a:latin typeface="Calibri"/>
              </a:rPr>
              <a:t>•  En iyi: dengeli Qwen2.5-1.5B (Macro-F1 0,390; FNR-Red 0,529) — açık kaynakla ulaşılabilir başlangıç sınırı.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222A33"/>
                </a:solidFill>
                <a:latin typeface="Calibri"/>
              </a:rPr>
              <a:t>•  Gelecek çalışmalar:</a:t>
            </a:r>
          </a:p>
          <a:p>
            <a:pPr lvl="1">
              <a:spcAft>
                <a:spcPts val="800"/>
              </a:spcAft>
            </a:pPr>
            <a:r>
              <a:rPr sz="1400" b="0" i="0">
                <a:solidFill>
                  <a:srgbClr val="555F6B"/>
                </a:solidFill>
                <a:latin typeface="Calibri"/>
              </a:rPr>
              <a:t>–  Class-weighted CE + focal loss (Kırmızı recall hedefi %70–80).</a:t>
            </a:r>
          </a:p>
          <a:p>
            <a:pPr lvl="1">
              <a:spcAft>
                <a:spcPts val="800"/>
              </a:spcAft>
            </a:pPr>
            <a:r>
              <a:rPr sz="1400" b="0" i="0">
                <a:solidFill>
                  <a:srgbClr val="555F6B"/>
                </a:solidFill>
                <a:latin typeface="Calibri"/>
              </a:rPr>
              <a:t>–  İki aşamalı Yeşil-vs-rest + back-translation ile sentetik Kırmızı.</a:t>
            </a:r>
          </a:p>
          <a:p>
            <a:pPr lvl="1">
              <a:spcAft>
                <a:spcPts val="800"/>
              </a:spcAft>
            </a:pPr>
            <a:r>
              <a:rPr sz="1400" b="0" i="0">
                <a:solidFill>
                  <a:srgbClr val="555F6B"/>
                </a:solidFill>
                <a:latin typeface="Calibri"/>
              </a:rPr>
              <a:t>–  ≥3 tohumla varyans + istatistiksel anlamlılık; TF-IDF/mBERT baseline.</a:t>
            </a:r>
          </a:p>
          <a:p>
            <a:pPr lvl="1">
              <a:spcAft>
                <a:spcPts val="800"/>
              </a:spcAft>
            </a:pPr>
            <a:r>
              <a:rPr sz="1400" b="0" i="0">
                <a:solidFill>
                  <a:srgbClr val="555F6B"/>
                </a:solidFill>
                <a:latin typeface="Calibri"/>
              </a:rPr>
              <a:t>–  Doktor doğrulamalı ≥2.000 test seti; HF Hub yayını; ortak benchmark makalesi.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 i="0">
                <a:solidFill>
                  <a:srgbClr val="555F6B"/>
                </a:solidFill>
                <a:latin typeface="Calibri"/>
              </a:rPr>
              <a:t>Türkçe Tıbbi Triaj • SLM Benchmark • Selçuk Ü.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 i="0">
                <a:solidFill>
                  <a:srgbClr val="1F3A5F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383280"/>
            <a:ext cx="12191695" cy="5486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9997135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Calibri"/>
              </a:rPr>
              <a:t>Canlı Demo &amp; Sorular</a:t>
            </a:r>
          </a:p>
          <a:p>
            <a:pPr>
              <a:spcBef>
                <a:spcPts val="1600"/>
              </a:spcBef>
            </a:pPr>
            <a:r>
              <a:rPr sz="1800" b="0" i="0">
                <a:solidFill>
                  <a:srgbClr val="9FB3C8"/>
                </a:solidFill>
                <a:latin typeface="Calibri"/>
              </a:rPr>
              <a:t>Demo: tek satır Türkçe semptom → {triaj, bölüm, neden} JSON
(dengeli Qwen2.5-1.5B + cascade)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749039"/>
            <a:ext cx="9997135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r>
              <a:rPr sz="1800" b="1" i="0">
                <a:solidFill>
                  <a:srgbClr val="FFFFFF"/>
                </a:solidFill>
                <a:latin typeface="Calibri"/>
              </a:rPr>
              <a:t>Öğrenilen dersler:</a:t>
            </a:r>
          </a:p>
          <a:p>
            <a:r>
              <a:rPr sz="1500" b="0" i="0">
                <a:solidFill>
                  <a:srgbClr val="C8D2DC"/>
                </a:solidFill>
                <a:latin typeface="Calibri"/>
              </a:rPr>
              <a:t>• Zero-shot yetmez; küçük modelde format/etiket öğrenmek için FT şart.</a:t>
            </a:r>
          </a:p>
          <a:p>
            <a:r>
              <a:rPr sz="1500" b="0" i="0">
                <a:solidFill>
                  <a:srgbClr val="C8D2DC"/>
                </a:solidFill>
                <a:latin typeface="Calibri"/>
              </a:rPr>
              <a:t>• Dengesizlikte veri-seviyesi tek başına yetersiz; loss-seviyesi gerekli.</a:t>
            </a:r>
          </a:p>
          <a:p>
            <a:r>
              <a:rPr sz="1500" b="0" i="0">
                <a:solidFill>
                  <a:srgbClr val="C8D2DC"/>
                </a:solidFill>
                <a:latin typeface="Calibri"/>
              </a:rPr>
              <a:t>• Daha büyük model ≠ daha iyi; veri + veriye uyarlanmış mimari belirleyici.</a:t>
            </a:r>
          </a:p>
          <a:p>
            <a:r>
              <a:rPr sz="1500" b="0" i="0">
                <a:solidFill>
                  <a:srgbClr val="C8D2DC"/>
                </a:solidFill>
                <a:latin typeface="Calibri"/>
              </a:rPr>
              <a:t>• Şeffaf negatif bulgular (cascade, Yeşil F1=0) da bilimsel katkıdır.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6035040"/>
            <a:ext cx="999713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0" i="0">
                <a:solidFill>
                  <a:srgbClr val="9FB3C8"/>
                </a:solidFill>
                <a:latin typeface="Calibri"/>
              </a:rPr>
              <a:t>Teşekkürler — Ebubekir Bayar &amp; Furkan Kocataş · github.com/FurkanKocatas/medical-triage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